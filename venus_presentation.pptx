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EXECUTIVE COMPANY PITCH DECK</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VENUS GLOBAL TECHNOLOGY</a:t>
            </a:r>
            <a:endParaRPr lang="en-US" sz="2400" dirty="0"/>
          </a:p>
          <a:p>
            <a:pPr indent="0" marL="0">
              <a:buNone/>
            </a:pPr>
            <a:r>
              <a:rPr lang="en-US" sz="2400" b="1" dirty="0">
                <a:solidFill>
                  <a:srgbClr val="FFFFFF"/>
                </a:solidFill>
                <a:latin typeface="Arial" pitchFamily="34" charset="0"/>
                <a:ea typeface="Arial" pitchFamily="34" charset="-122"/>
                <a:cs typeface="Arial" pitchFamily="34" charset="-120"/>
              </a:rPr>
              <a:t>AI Skills, Capabilities &amp; Enterprise Solutions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Empowering modern organizations with autonomous multi-agent networks, domain-tuned LLM reasoning, and deep ERP integration across finance, supply chain, and operations.</a:t>
            </a:r>
            <a:endParaRPr lang="en-US" sz="1300" dirty="0"/>
          </a:p>
        </p:txBody>
      </p:sp>
      <p:sp>
        <p:nvSpPr>
          <p:cNvPr id="6" name="Shape 4"/>
          <p:cNvSpPr/>
          <p:nvPr/>
        </p:nvSpPr>
        <p:spPr>
          <a:xfrm>
            <a:off x="548640" y="2926080"/>
            <a:ext cx="2377440" cy="1280160"/>
          </a:xfrm>
          <a:prstGeom prst="rect">
            <a:avLst/>
          </a:prstGeom>
          <a:solidFill>
            <a:srgbClr val="0D1426"/>
          </a:solidFill>
          <a:ln w="12700">
            <a:solidFill>
              <a:srgbClr val="253356"/>
            </a:solidFill>
            <a:prstDash val="solid"/>
          </a:ln>
        </p:spPr>
      </p:sp>
      <p:sp>
        <p:nvSpPr>
          <p:cNvPr id="7" name="Text 5"/>
          <p:cNvSpPr/>
          <p:nvPr/>
        </p:nvSpPr>
        <p:spPr>
          <a:xfrm>
            <a:off x="54864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45%</a:t>
            </a:r>
            <a:endParaRPr lang="en-US" sz="2800" dirty="0"/>
          </a:p>
        </p:txBody>
      </p:sp>
      <p:sp>
        <p:nvSpPr>
          <p:cNvPr id="8" name="Text 6"/>
          <p:cNvSpPr/>
          <p:nvPr/>
        </p:nvSpPr>
        <p:spPr>
          <a:xfrm>
            <a:off x="54864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Operational Speedup</a:t>
            </a:r>
            <a:endParaRPr lang="en-US" sz="1100" dirty="0"/>
          </a:p>
        </p:txBody>
      </p:sp>
      <p:sp>
        <p:nvSpPr>
          <p:cNvPr id="9" name="Shape 7"/>
          <p:cNvSpPr/>
          <p:nvPr/>
        </p:nvSpPr>
        <p:spPr>
          <a:xfrm>
            <a:off x="3154680" y="2926080"/>
            <a:ext cx="2377440" cy="1280160"/>
          </a:xfrm>
          <a:prstGeom prst="rect">
            <a:avLst/>
          </a:prstGeom>
          <a:solidFill>
            <a:srgbClr val="0D1426"/>
          </a:solidFill>
          <a:ln w="12700">
            <a:solidFill>
              <a:srgbClr val="253356"/>
            </a:solidFill>
            <a:prstDash val="solid"/>
          </a:ln>
        </p:spPr>
      </p:sp>
      <p:sp>
        <p:nvSpPr>
          <p:cNvPr id="10" name="Text 8"/>
          <p:cNvSpPr/>
          <p:nvPr/>
        </p:nvSpPr>
        <p:spPr>
          <a:xfrm>
            <a:off x="315468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3.8x</a:t>
            </a:r>
            <a:endParaRPr lang="en-US" sz="2800" dirty="0"/>
          </a:p>
        </p:txBody>
      </p:sp>
      <p:sp>
        <p:nvSpPr>
          <p:cNvPr id="11" name="Text 9"/>
          <p:cNvSpPr/>
          <p:nvPr/>
        </p:nvSpPr>
        <p:spPr>
          <a:xfrm>
            <a:off x="315468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Average Enterprise ROI</a:t>
            </a:r>
            <a:endParaRPr lang="en-US" sz="1100" dirty="0"/>
          </a:p>
        </p:txBody>
      </p:sp>
      <p:sp>
        <p:nvSpPr>
          <p:cNvPr id="12" name="Shape 10"/>
          <p:cNvSpPr/>
          <p:nvPr/>
        </p:nvSpPr>
        <p:spPr>
          <a:xfrm>
            <a:off x="5760720" y="2926080"/>
            <a:ext cx="2377440" cy="1280160"/>
          </a:xfrm>
          <a:prstGeom prst="rect">
            <a:avLst/>
          </a:prstGeom>
          <a:solidFill>
            <a:srgbClr val="0D1426"/>
          </a:solidFill>
          <a:ln w="12700">
            <a:solidFill>
              <a:srgbClr val="253356"/>
            </a:solidFill>
            <a:prstDash val="solid"/>
          </a:ln>
        </p:spPr>
      </p:sp>
      <p:sp>
        <p:nvSpPr>
          <p:cNvPr id="13" name="Text 11"/>
          <p:cNvSpPr/>
          <p:nvPr/>
        </p:nvSpPr>
        <p:spPr>
          <a:xfrm>
            <a:off x="576072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70%</a:t>
            </a:r>
            <a:endParaRPr lang="en-US" sz="2800" dirty="0"/>
          </a:p>
        </p:txBody>
      </p:sp>
      <p:sp>
        <p:nvSpPr>
          <p:cNvPr id="14" name="Text 12"/>
          <p:cNvSpPr/>
          <p:nvPr/>
        </p:nvSpPr>
        <p:spPr>
          <a:xfrm>
            <a:off x="576072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Process Latency Cut</a:t>
            </a:r>
            <a:endParaRPr lang="en-US" sz="1100" dirty="0"/>
          </a:p>
        </p:txBody>
      </p:sp>
      <p:sp>
        <p:nvSpPr>
          <p:cNvPr id="15" name="Shape 13"/>
          <p:cNvSpPr/>
          <p:nvPr/>
        </p:nvSpPr>
        <p:spPr>
          <a:xfrm>
            <a:off x="8366760" y="2926080"/>
            <a:ext cx="2377440" cy="1280160"/>
          </a:xfrm>
          <a:prstGeom prst="rect">
            <a:avLst/>
          </a:prstGeom>
          <a:solidFill>
            <a:srgbClr val="0D1426"/>
          </a:solidFill>
          <a:ln w="12700">
            <a:solidFill>
              <a:srgbClr val="253356"/>
            </a:solidFill>
            <a:prstDash val="solid"/>
          </a:ln>
        </p:spPr>
      </p:sp>
      <p:sp>
        <p:nvSpPr>
          <p:cNvPr id="16" name="Text 14"/>
          <p:cNvSpPr/>
          <p:nvPr/>
        </p:nvSpPr>
        <p:spPr>
          <a:xfrm>
            <a:off x="836676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99.8%</a:t>
            </a:r>
            <a:endParaRPr lang="en-US" sz="2800" dirty="0"/>
          </a:p>
        </p:txBody>
      </p:sp>
      <p:sp>
        <p:nvSpPr>
          <p:cNvPr id="17" name="Text 15"/>
          <p:cNvSpPr/>
          <p:nvPr/>
        </p:nvSpPr>
        <p:spPr>
          <a:xfrm>
            <a:off x="836676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Audit Accuracy</a:t>
            </a:r>
            <a:endParaRPr lang="en-US" sz="1100" dirty="0"/>
          </a:p>
        </p:txBody>
      </p:sp>
      <p:pic>
        <p:nvPicPr>
          <p:cNvPr id="18" name="Image 0" descr="C:\Users\satap\Downloads\swissdice\venus_deck\assets\venus_hero_ai.jpg">    </p:cNvPr>
          <p:cNvPicPr>
            <a:picLocks noChangeAspect="1"/>
          </p:cNvPicPr>
          <p:nvPr/>
        </p:nvPicPr>
        <p:blipFill>
          <a:blip r:embed="rId1"/>
          <a:stretch>
            <a:fillRect/>
          </a:stretch>
        </p:blipFill>
        <p:spPr>
          <a:xfrm>
            <a:off x="6217920" y="2926080"/>
            <a:ext cx="5029200" cy="3108960"/>
          </a:xfrm>
          <a:prstGeom prst="rect">
            <a:avLst/>
          </a:prstGeom>
        </p:spPr>
      </p:pic>
      <p:sp>
        <p:nvSpPr>
          <p:cNvPr id="19"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01 / 31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02 — EXECUTIVE SUMMARY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Building Intelligent Enterprises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Modern organizations sit on vast amounts of structured and unstructured data, but traditional enterprise systems remain passive. Venus Global Technology bridges this gap by embedding active AI capabilities into core operations.</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CORE MISSION</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Active Enterprise Intelligence</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Transform static databases into self-reasoning workflows that execute transactions, spot anomalies, and trigger proactive alerts.</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TECHNOLOGY EDGE</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Domain-Trained Models</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Custom fine-tuned LLMs trained on finance, supply chain, and compliance schemas to ensure deterministic precision without hallucinations.</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PARTNERSHIP VALUE</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Kraey Globe Synergy</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Combining Venus's AI engineering prowess with Kraey Globe's deep functional enterprise consulting to deliver rapid transformation.</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02 / 31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03 — INDUSTRY CONTEXT</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Why Enterprises Need Intelligent Transformation</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Legacy enterprise software creates operational friction. Business velocity is throttled by disconnected silos, manual approvals, and reactive reporting.</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THE LEGACY CHALLENGE</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Passive Systems &amp; Data Silos</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Traditional ERPs require manual user input for every transaction. Data sits locked in static tables, forcing decision-makers to rely on outdated end-of-month reports.</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THE VENUS SOLUTION</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&amp; Connected AI</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AI agents operate directly inside your software ecosystem—continuously monitoring data streams, executing routine tasks, and delivering instant predictive insights.</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03 / 31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04 — THE OPPORTUNITY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From Traditional Systems to Intelligent Enterprises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Unlocking hidden business value by layering intelligence over existing ERP, operational data, and cloud assets without replacing core infrastructure.</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STRATEGY</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Layered Intelligence</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Rather than replacing legacy SAP/Oracle installations, Venus injects an autonomous multi-agent reasoning layer over existing SQL tables and APIs.</a:t>
            </a:r>
            <a:endParaRPr lang="en-US" sz="1100" dirty="0"/>
          </a:p>
        </p:txBody>
      </p:sp>
      <p:pic>
        <p:nvPicPr>
          <p:cNvPr id="10" name="Image 0" descr="C:\Users\satap\Downloads\swissdice\venus_deck\assets\enterprise_erp_architecture.jpg">    </p:cNvPr>
          <p:cNvPicPr>
            <a:picLocks noChangeAspect="1"/>
          </p:cNvPicPr>
          <p:nvPr/>
        </p:nvPicPr>
        <p:blipFill>
          <a:blip r:embed="rId1"/>
          <a:stretch>
            <a:fillRect/>
          </a:stretch>
        </p:blipFill>
        <p:spPr>
          <a:xfrm>
            <a:off x="6217920" y="2926080"/>
            <a:ext cx="5029200" cy="3108960"/>
          </a:xfrm>
          <a:prstGeom prst="rect">
            <a:avLst/>
          </a:prstGeom>
        </p:spPr>
      </p:pic>
      <p:sp>
        <p:nvSpPr>
          <p:cNvPr id="11" name="Text 8"/>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04 / 31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05 — INTERACTIVE AGENT CONTROL CENTER</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Connecting AI With Enterprise Operations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Watch natural language business prompts translate instantly into multi-agent intent routing, deterministic SQL synthesis, and live SAP/Oracle ERP API executions.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SCENARIO 1</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Unpaid Invoice Audit</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Executing SQL on SAP BSEG table. Matched PO #99401 with Vendor Invoice #INV-88320 (Confidence: 99.8%). Triggered PostJournalEntry() -&gt; Tx #00928174.</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SCENARIO 2</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Logistics Bottlenecks</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Rotterdam Depot delayed 4.2 days. Automatically re-routed 1,200 urgent shipments through Antwerp hub. Saved $142,000 in demurrage fees.</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05 / 31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06 — CORE SPECIALIZATION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Venus Global Technology Specialization</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Our deep focus spans four core technical domains engineered specifically for large-scale enterprise deployments.</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DOMAIN 01</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Domain Fine-Tuning</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Custom LLM weights trained on SAP, Oracle, and enterprise schemas.</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DOMAIN 02</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Multi-Agent Networks</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Specialized autonomous workers executing multi-step business logic.</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DOMAIN 03</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Vector Knowledge Graph</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Hybrid semantic and relational data retrieval engine.</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DOMAIN 04</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Deterministic Guardrails</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SOC2 &amp; GDPR compliant permission enforcement layer.</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06 / 31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07 — ARCHITECTURAL PILLARS</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Four Pillars of Enterprise Intelligence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holistic architectural foundation ensuring scalability, governance, speed, and business alignment.</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PILLAR 01</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Cognitive Data Layer</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Real-time CDC transactional ingest turning records into live vectors.</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PILLAR 02</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Agents</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Multi-step reasoning agents with automated exception handling.</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PILLAR 03</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Unified API Gateway</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Connectors for SAP S/4HANA, Oracle Cloud, D365, and REST endpoints.</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PILLAR 04</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Enterprise Security</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Zero-trust role permission inheritance and immutable audit logging.</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07 / 31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08 — VALUE CREATION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Building Intelligence Into Core Business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AI shouldn't be a separate dashboard—it must be embedded directly into daily operational workflows.</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01. INGEST</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Real-Time Ingestion</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Stream database CDC change logs into vector memory store.</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02. REASON</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Contextual Evaluation</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Agents evaluate triggers against SLA thresholds and corporate policy.</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03. EXECUTE</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Automated Action</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Execute transactions directly in ERP with full audit trace logs.</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08 / 31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09 — PARADIGM SHIFT</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From AI Assistance to Intelligent Action</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Moving beyond basic chatbots that only answer questions to autonomous agent teams that complete entire business processes.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GEN 1 — CHATBOTS</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Passive Q&amp;A Chat</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Summarizes documents but requires human manual data copying and entry.</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GEN 2 — VENUS AGENTS</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Action</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Executes SAP/Oracle transactions directly with guaranteed deterministic SQL.</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09 / 31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10 — MATURITY ROADMAP</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Journey Toward Autonomous Operations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structured 4-stage maturity framework designed to safely scale AI adoption without enterprise risk.</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01</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Augmented Insight</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Conversational natural language querying of ERP databases.</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02</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Guided Automation</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AI proposes actions; managers approve with 1 click.</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03</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Execution</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Agents handle transactions under $50k thresholds automatically.</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04</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Self-Healing Enterprise</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Predictive agents resolve bottlenecks before operational impact.</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10 / 31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11 — USE CASES &amp; PROTOTYPE</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AI Agents &amp; Enterprise Functional Prototype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Explore live mock data representation of automated invoice reconciliation handled by Venus AI Agents.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PROTOTYPE DATA</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Automated Invoice Matching</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Invoice #INV-9021 ($42,500) -&gt; Matched PO #4401 [Approved]</a:t>
            </a:r>
            <a:endParaRPr lang="en-US" sz="1100" dirty="0"/>
          </a:p>
          <a:p>
            <a:pPr indent="0" marL="0">
              <a:buNone/>
            </a:pPr>
            <a:r>
              <a:rPr lang="en-US" sz="1100" dirty="0">
                <a:solidFill>
                  <a:srgbClr val="94A3B8"/>
                </a:solidFill>
                <a:latin typeface="Arial" pitchFamily="34" charset="0"/>
                <a:ea typeface="Arial" pitchFamily="34" charset="-122"/>
                <a:cs typeface="Arial" pitchFamily="34" charset="-120"/>
              </a:rPr>
              <a:t>Invoice #INV-9022 ($128,000) -&gt; Tax Audit [Flagged]</a:t>
            </a:r>
            <a:endParaRPr lang="en-US" sz="1100" dirty="0"/>
          </a:p>
          <a:p>
            <a:pPr indent="0" marL="0">
              <a:buNone/>
            </a:pPr>
            <a:r>
              <a:rPr lang="en-US" sz="1100" dirty="0">
                <a:solidFill>
                  <a:srgbClr val="94A3B8"/>
                </a:solidFill>
                <a:latin typeface="Arial" pitchFamily="34" charset="0"/>
                <a:ea typeface="Arial" pitchFamily="34" charset="-122"/>
                <a:cs typeface="Arial" pitchFamily="34" charset="-120"/>
              </a:rPr>
              <a:t>Invoice #INV-9023 ($18,400) -&gt; Matched PO #4405 [Approved]</a:t>
            </a:r>
            <a:endParaRPr lang="en-US" sz="1100" dirty="0"/>
          </a:p>
        </p:txBody>
      </p:sp>
      <p:pic>
        <p:nvPicPr>
          <p:cNvPr id="10" name="Image 0" descr="C:\Users\satap\Downloads\swissdice\venus_deck\assets\ai_finance_dashboard.jpg">    </p:cNvPr>
          <p:cNvPicPr>
            <a:picLocks noChangeAspect="1"/>
          </p:cNvPicPr>
          <p:nvPr/>
        </p:nvPicPr>
        <p:blipFill>
          <a:blip r:embed="rId1"/>
          <a:stretch>
            <a:fillRect/>
          </a:stretch>
        </p:blipFill>
        <p:spPr>
          <a:xfrm>
            <a:off x="6217920" y="2926080"/>
            <a:ext cx="5029200" cy="3108960"/>
          </a:xfrm>
          <a:prstGeom prst="rect">
            <a:avLst/>
          </a:prstGeom>
        </p:spPr>
      </p:pic>
      <p:sp>
        <p:nvSpPr>
          <p:cNvPr id="11" name="Text 8"/>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11 / 31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12 — MODERNIZATION ARCHITECTURE</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Making Enterprise Systems More Intelligent</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Modernizing legacy infrastructure without expensive full-system tear-and-replace projects.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LAYER 1</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Legacy Wrapping Layer</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Deploy light API wrappers around SAP ECC 6.0 and AS/400 mainframes, exposing clean GraphQL and REST endpoints.</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LAYER 2</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Real-Time Event Stream</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Streaming enterprise updates via Kafka into Vector Memory Engine for zero-latency AI awareness.</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12 / 31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13 — ERP EVOLUTION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Evolution of ERP Systems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How enterprise software has transformed from basic record-keeping to intelligent self-driving platforms.</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1990s</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System of Record</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Manual data entry into static SQL tables.</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2010s</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Cloud ERP</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Web dashboards and webhooks integration.</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2026+ VENUS</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AI ERP</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Self-executing workflows and multi-agents.</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13 / 31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14 — ENTERPRISE ENGINE</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Intelligence Across the Enterprise Engine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unified AI layer connecting all core enterprise operational modules into a single nervous system.</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MODULE A</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Order-to-Cash (O2C)</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Automating order intake, credit checks, and automated invoice payment chasing.</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MODULE B</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Procure-to-Pay (P2P)</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AI purchase order generation, contract evaluation, and 3-way matching.</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MODULE C</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Record-to-Report (R2R)</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Continuous trial balance monitoring and accelerated financial close.</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14 / 31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15 — DEEP APPLICATIONS</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AI Applications Across Business Functions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Realizing immediate operational throughput gains across administrative and high-value workflows.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FINANCE</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 Financial Planning</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Running 1,000+ Monte Carlo scenario simulations based on real-time market data to guide budget allocations.</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OPERATIONS</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Predictive Maintenance</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IoT sensor telemetry feeds directly into AI models, scheduling repair work orders before asset failure.</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15 / 31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16 — OPERATIONAL VELOCITY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Automate Work. Accelerate Operations.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Eliminating manual bottleneck tasks to free up human talent for strategic, high-value decision-making.</a:t>
            </a:r>
            <a:endParaRPr lang="en-US" sz="1300" dirty="0"/>
          </a:p>
        </p:txBody>
      </p:sp>
      <p:sp>
        <p:nvSpPr>
          <p:cNvPr id="6" name="Shape 4"/>
          <p:cNvSpPr/>
          <p:nvPr/>
        </p:nvSpPr>
        <p:spPr>
          <a:xfrm>
            <a:off x="548640" y="2926080"/>
            <a:ext cx="2377440" cy="1280160"/>
          </a:xfrm>
          <a:prstGeom prst="rect">
            <a:avLst/>
          </a:prstGeom>
          <a:solidFill>
            <a:srgbClr val="0D1426"/>
          </a:solidFill>
          <a:ln w="12700">
            <a:solidFill>
              <a:srgbClr val="253356"/>
            </a:solidFill>
            <a:prstDash val="solid"/>
          </a:ln>
        </p:spPr>
      </p:sp>
      <p:sp>
        <p:nvSpPr>
          <p:cNvPr id="7" name="Text 5"/>
          <p:cNvSpPr/>
          <p:nvPr/>
        </p:nvSpPr>
        <p:spPr>
          <a:xfrm>
            <a:off x="54864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12x</a:t>
            </a:r>
            <a:endParaRPr lang="en-US" sz="2800" dirty="0"/>
          </a:p>
        </p:txBody>
      </p:sp>
      <p:sp>
        <p:nvSpPr>
          <p:cNvPr id="8" name="Text 6"/>
          <p:cNvSpPr/>
          <p:nvPr/>
        </p:nvSpPr>
        <p:spPr>
          <a:xfrm>
            <a:off x="54864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Invoice Speed</a:t>
            </a:r>
            <a:endParaRPr lang="en-US" sz="1100" dirty="0"/>
          </a:p>
        </p:txBody>
      </p:sp>
      <p:sp>
        <p:nvSpPr>
          <p:cNvPr id="9" name="Shape 7"/>
          <p:cNvSpPr/>
          <p:nvPr/>
        </p:nvSpPr>
        <p:spPr>
          <a:xfrm>
            <a:off x="3154680" y="2926080"/>
            <a:ext cx="2377440" cy="1280160"/>
          </a:xfrm>
          <a:prstGeom prst="rect">
            <a:avLst/>
          </a:prstGeom>
          <a:solidFill>
            <a:srgbClr val="0D1426"/>
          </a:solidFill>
          <a:ln w="12700">
            <a:solidFill>
              <a:srgbClr val="253356"/>
            </a:solidFill>
            <a:prstDash val="solid"/>
          </a:ln>
        </p:spPr>
      </p:sp>
      <p:sp>
        <p:nvSpPr>
          <p:cNvPr id="10" name="Text 8"/>
          <p:cNvSpPr/>
          <p:nvPr/>
        </p:nvSpPr>
        <p:spPr>
          <a:xfrm>
            <a:off x="315468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95%</a:t>
            </a:r>
            <a:endParaRPr lang="en-US" sz="2800" dirty="0"/>
          </a:p>
        </p:txBody>
      </p:sp>
      <p:sp>
        <p:nvSpPr>
          <p:cNvPr id="11" name="Text 9"/>
          <p:cNvSpPr/>
          <p:nvPr/>
        </p:nvSpPr>
        <p:spPr>
          <a:xfrm>
            <a:off x="315468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Error Reduction</a:t>
            </a:r>
            <a:endParaRPr lang="en-US" sz="1100" dirty="0"/>
          </a:p>
        </p:txBody>
      </p:sp>
      <p:sp>
        <p:nvSpPr>
          <p:cNvPr id="12" name="Shape 10"/>
          <p:cNvSpPr/>
          <p:nvPr/>
        </p:nvSpPr>
        <p:spPr>
          <a:xfrm>
            <a:off x="5760720" y="2926080"/>
            <a:ext cx="2377440" cy="1280160"/>
          </a:xfrm>
          <a:prstGeom prst="rect">
            <a:avLst/>
          </a:prstGeom>
          <a:solidFill>
            <a:srgbClr val="0D1426"/>
          </a:solidFill>
          <a:ln w="12700">
            <a:solidFill>
              <a:srgbClr val="253356"/>
            </a:solidFill>
            <a:prstDash val="solid"/>
          </a:ln>
        </p:spPr>
      </p:sp>
      <p:sp>
        <p:nvSpPr>
          <p:cNvPr id="13" name="Text 11"/>
          <p:cNvSpPr/>
          <p:nvPr/>
        </p:nvSpPr>
        <p:spPr>
          <a:xfrm>
            <a:off x="576072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4.5 Hrs</a:t>
            </a:r>
            <a:endParaRPr lang="en-US" sz="2800" dirty="0"/>
          </a:p>
        </p:txBody>
      </p:sp>
      <p:sp>
        <p:nvSpPr>
          <p:cNvPr id="14" name="Text 12"/>
          <p:cNvSpPr/>
          <p:nvPr/>
        </p:nvSpPr>
        <p:spPr>
          <a:xfrm>
            <a:off x="576072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Hours Saved / Wk</a:t>
            </a:r>
            <a:endParaRPr lang="en-US" sz="1100" dirty="0"/>
          </a:p>
        </p:txBody>
      </p:sp>
      <p:sp>
        <p:nvSpPr>
          <p:cNvPr id="15" name="Shape 13"/>
          <p:cNvSpPr/>
          <p:nvPr/>
        </p:nvSpPr>
        <p:spPr>
          <a:xfrm>
            <a:off x="8366760" y="2926080"/>
            <a:ext cx="2377440" cy="1280160"/>
          </a:xfrm>
          <a:prstGeom prst="rect">
            <a:avLst/>
          </a:prstGeom>
          <a:solidFill>
            <a:srgbClr val="0D1426"/>
          </a:solidFill>
          <a:ln w="12700">
            <a:solidFill>
              <a:srgbClr val="253356"/>
            </a:solidFill>
            <a:prstDash val="solid"/>
          </a:ln>
        </p:spPr>
      </p:sp>
      <p:sp>
        <p:nvSpPr>
          <p:cNvPr id="16" name="Text 14"/>
          <p:cNvSpPr/>
          <p:nvPr/>
        </p:nvSpPr>
        <p:spPr>
          <a:xfrm>
            <a:off x="836676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100%</a:t>
            </a:r>
            <a:endParaRPr lang="en-US" sz="2800" dirty="0"/>
          </a:p>
        </p:txBody>
      </p:sp>
      <p:sp>
        <p:nvSpPr>
          <p:cNvPr id="17" name="Text 15"/>
          <p:cNvSpPr/>
          <p:nvPr/>
        </p:nvSpPr>
        <p:spPr>
          <a:xfrm>
            <a:off x="836676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Traceability</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16 / 31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17 — WORKFLOW TRANSFORMATION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From Manual Work to Intelligent Operations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Redesigning key enterprise workflows from step-by-step human processing to autonomous AI-driven execution.</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BEFORE</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Traditional Workflow (12 Days)</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Email Invoice -&gt; Manual Download -&gt; Manual SAP Entry -&gt; Physical Signature Approval -&gt; Manual Transfer Request.</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AFTER</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Venus AI Workflow (3 Minutes)</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Email Ingested by OCR Agent -&gt; 3-Way Matched with PO &amp; Receipt -&gt; Policy Check -&gt; Auto-Approved.</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17 / 31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18 — COMPATIBILITY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AI That Works With Existing Technology</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Venus AI overlays seamlessly with your existing tech stack without forcing migrations or vendor lock-in.</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SAP</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SAP Ecosystem</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Native S/4HANA, ECC 6.0, BTP, and OData APIs.</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ORACLE</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Oracle Cloud</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Oracle ERP Cloud, NetSuite, and Database 23c Vector.</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MICROSOFT</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MS Dynamics</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Dataverse, D365 Finance &amp; Azure AI Search.</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CUSTOM</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Middleware</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REST, gRPC, Kafka, and GraphQL support.</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18 / 31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19 — ARCHITECTURE GRAPHIC</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Connected Technology Ecosystem Architecture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End-to-end technical data flow from enterprise source databases up to cognitive AI user interfaces.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LOGISTICS</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Logistics Telemetry</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Connecting warehouse WMS, shipping APIs, and demand forecasts into a unified real-time command dashboard with automated rerouting.</a:t>
            </a:r>
            <a:endParaRPr lang="en-US" sz="1100" dirty="0"/>
          </a:p>
        </p:txBody>
      </p:sp>
      <p:pic>
        <p:nvPicPr>
          <p:cNvPr id="10" name="Image 0" descr="C:\Users\satap\Downloads\swissdice\venus_deck\assets\supply_chain_heatmap.jpg">    </p:cNvPr>
          <p:cNvPicPr>
            <a:picLocks noChangeAspect="1"/>
          </p:cNvPicPr>
          <p:nvPr/>
        </p:nvPicPr>
        <p:blipFill>
          <a:blip r:embed="rId1"/>
          <a:stretch>
            <a:fillRect/>
          </a:stretch>
        </p:blipFill>
        <p:spPr>
          <a:xfrm>
            <a:off x="6217920" y="2926080"/>
            <a:ext cx="5029200" cy="3108960"/>
          </a:xfrm>
          <a:prstGeom prst="rect">
            <a:avLst/>
          </a:prstGeom>
        </p:spPr>
      </p:pic>
      <p:sp>
        <p:nvSpPr>
          <p:cNvPr id="11" name="Text 8"/>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19 / 31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20 — GOVERNANCE &amp; TRUST</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Enterprise AI Must Be Intelligent and Trusted</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Strict security, privacy, and compliance frameworks to guarantee safety for Fortune 500 deployments.</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SECURITY</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Tenant Data Isolation</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Your corporate data is never used to train public weights. Isolated KMS encryption.</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COMPLIANCE</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Full Audit Logging</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Every prompt, query, confidence score, and transaction recorded in immutable ledger.</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CONTROL</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Role Permission Mirroring</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AI agents automatically inherit strict SAP/Oracle role permissions.</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20 / 31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21 — ROADMAP &amp; STRATEGY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From Opportunity to Enterprise Transformation</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pragmatic roadmap to deliver immediate quick wins in Phase 1 while building for long-term autonomous scale.</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PHASE 1 (WKS 1-6)</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Discovery &amp; MVP</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Connect vector search to 1 core ERP table for immediate value proof.</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PHASE 2 (WKS 7-16)</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Agent Deployment</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Deploy 3 multi-agent teams with human-in-the-loop approval workflows.</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PHASE 3 (MOS 5+)</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Autonomous Scale</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Full autonomous execution across business functions with feedback loops.</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21 / 31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22 — INDUSTRY IMPACT</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AI Solutions Across Industries</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Tailored vertical models solving domain-specific challenges in manufacturing, retail, finance, and healthcare.</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MANUFACTURING</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Smart Factory AI</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Dynamic production scheduling and raw material alignment.</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RETAIL</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Demand Sensing</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Real-time localized demand forecasting and auto-restocking.</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FINANCE</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Risk &amp; Fraud AI</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Continuous transaction monitoring and AML pattern detection.</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HEALTHCARE</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Compliance AI</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FDA audit trail validation and batch release automation.</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22 / 31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23 — TECH STACK &amp; SKILLS</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Technology Capabilities &amp; AI Skills Matrix</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Our core technical competencies spanning deep learning, cloud infrastructure, and enterprise data platforms.</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AI &amp; DATA</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Engineering Stack</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PyTorch, vLLM, LangChain, LlamaIndex, AutoGen, Pinecone, Qdrant, Milvus, pgvector, Neo4j Graph DB, Custom LoRA fine-tuning.</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ENTERPRISE</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Integration Stack</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SAP S/4HANA, BTP, ABAP RESTful, Oracle Fusion, NetSuite SuiteTalk, Kubernetes, Azure AI, AWS Bedrock, GCP Vertex.</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23 / 31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24 — VALUE METRICS</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Creating Measurable Enterprise Value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Quantifiable impact across cost reduction, speed acceleration, and working capital optimization.</a:t>
            </a:r>
            <a:endParaRPr lang="en-US" sz="1300" dirty="0"/>
          </a:p>
        </p:txBody>
      </p:sp>
      <p:sp>
        <p:nvSpPr>
          <p:cNvPr id="6" name="Shape 4"/>
          <p:cNvSpPr/>
          <p:nvPr/>
        </p:nvSpPr>
        <p:spPr>
          <a:xfrm>
            <a:off x="548640" y="2926080"/>
            <a:ext cx="2377440" cy="1280160"/>
          </a:xfrm>
          <a:prstGeom prst="rect">
            <a:avLst/>
          </a:prstGeom>
          <a:solidFill>
            <a:srgbClr val="0D1426"/>
          </a:solidFill>
          <a:ln w="12700">
            <a:solidFill>
              <a:srgbClr val="253356"/>
            </a:solidFill>
            <a:prstDash val="solid"/>
          </a:ln>
        </p:spPr>
      </p:sp>
      <p:sp>
        <p:nvSpPr>
          <p:cNvPr id="7" name="Text 5"/>
          <p:cNvSpPr/>
          <p:nvPr/>
        </p:nvSpPr>
        <p:spPr>
          <a:xfrm>
            <a:off x="54864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$8.5M</a:t>
            </a:r>
            <a:endParaRPr lang="en-US" sz="2800" dirty="0"/>
          </a:p>
        </p:txBody>
      </p:sp>
      <p:sp>
        <p:nvSpPr>
          <p:cNvPr id="8" name="Text 6"/>
          <p:cNvSpPr/>
          <p:nvPr/>
        </p:nvSpPr>
        <p:spPr>
          <a:xfrm>
            <a:off x="54864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Est. Cost Savings</a:t>
            </a:r>
            <a:endParaRPr lang="en-US" sz="1100" dirty="0"/>
          </a:p>
        </p:txBody>
      </p:sp>
      <p:sp>
        <p:nvSpPr>
          <p:cNvPr id="9" name="Shape 7"/>
          <p:cNvSpPr/>
          <p:nvPr/>
        </p:nvSpPr>
        <p:spPr>
          <a:xfrm>
            <a:off x="3154680" y="2926080"/>
            <a:ext cx="2377440" cy="1280160"/>
          </a:xfrm>
          <a:prstGeom prst="rect">
            <a:avLst/>
          </a:prstGeom>
          <a:solidFill>
            <a:srgbClr val="0D1426"/>
          </a:solidFill>
          <a:ln w="12700">
            <a:solidFill>
              <a:srgbClr val="253356"/>
            </a:solidFill>
            <a:prstDash val="solid"/>
          </a:ln>
        </p:spPr>
      </p:sp>
      <p:sp>
        <p:nvSpPr>
          <p:cNvPr id="10" name="Text 8"/>
          <p:cNvSpPr/>
          <p:nvPr/>
        </p:nvSpPr>
        <p:spPr>
          <a:xfrm>
            <a:off x="315468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4.2 Mos</a:t>
            </a:r>
            <a:endParaRPr lang="en-US" sz="2800" dirty="0"/>
          </a:p>
        </p:txBody>
      </p:sp>
      <p:sp>
        <p:nvSpPr>
          <p:cNvPr id="11" name="Text 9"/>
          <p:cNvSpPr/>
          <p:nvPr/>
        </p:nvSpPr>
        <p:spPr>
          <a:xfrm>
            <a:off x="315468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Payback Period</a:t>
            </a:r>
            <a:endParaRPr lang="en-US" sz="1100" dirty="0"/>
          </a:p>
        </p:txBody>
      </p:sp>
      <p:sp>
        <p:nvSpPr>
          <p:cNvPr id="12" name="Shape 10"/>
          <p:cNvSpPr/>
          <p:nvPr/>
        </p:nvSpPr>
        <p:spPr>
          <a:xfrm>
            <a:off x="5760720" y="2926080"/>
            <a:ext cx="2377440" cy="1280160"/>
          </a:xfrm>
          <a:prstGeom prst="rect">
            <a:avLst/>
          </a:prstGeom>
          <a:solidFill>
            <a:srgbClr val="0D1426"/>
          </a:solidFill>
          <a:ln w="12700">
            <a:solidFill>
              <a:srgbClr val="253356"/>
            </a:solidFill>
            <a:prstDash val="solid"/>
          </a:ln>
        </p:spPr>
      </p:sp>
      <p:sp>
        <p:nvSpPr>
          <p:cNvPr id="13" name="Text 11"/>
          <p:cNvSpPr/>
          <p:nvPr/>
        </p:nvSpPr>
        <p:spPr>
          <a:xfrm>
            <a:off x="576072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45%</a:t>
            </a:r>
            <a:endParaRPr lang="en-US" sz="2800" dirty="0"/>
          </a:p>
        </p:txBody>
      </p:sp>
      <p:sp>
        <p:nvSpPr>
          <p:cNvPr id="14" name="Text 12"/>
          <p:cNvSpPr/>
          <p:nvPr/>
        </p:nvSpPr>
        <p:spPr>
          <a:xfrm>
            <a:off x="576072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Labor Efficiency</a:t>
            </a:r>
            <a:endParaRPr lang="en-US" sz="1100" dirty="0"/>
          </a:p>
        </p:txBody>
      </p:sp>
      <p:sp>
        <p:nvSpPr>
          <p:cNvPr id="15" name="Shape 13"/>
          <p:cNvSpPr/>
          <p:nvPr/>
        </p:nvSpPr>
        <p:spPr>
          <a:xfrm>
            <a:off x="8366760" y="2926080"/>
            <a:ext cx="2377440" cy="1280160"/>
          </a:xfrm>
          <a:prstGeom prst="rect">
            <a:avLst/>
          </a:prstGeom>
          <a:solidFill>
            <a:srgbClr val="0D1426"/>
          </a:solidFill>
          <a:ln w="12700">
            <a:solidFill>
              <a:srgbClr val="253356"/>
            </a:solidFill>
            <a:prstDash val="solid"/>
          </a:ln>
        </p:spPr>
      </p:sp>
      <p:sp>
        <p:nvSpPr>
          <p:cNvPr id="16" name="Text 14"/>
          <p:cNvSpPr/>
          <p:nvPr/>
        </p:nvSpPr>
        <p:spPr>
          <a:xfrm>
            <a:off x="8366760" y="3108960"/>
            <a:ext cx="2377440" cy="548640"/>
          </a:xfrm>
          <a:prstGeom prst="rect">
            <a:avLst/>
          </a:prstGeom>
          <a:noFill/>
          <a:ln/>
        </p:spPr>
        <p:txBody>
          <a:bodyPr wrap="square" rtlCol="0" anchor="ctr"/>
          <a:lstStyle/>
          <a:p>
            <a:pPr algn="ctr" indent="0" marL="0">
              <a:buNone/>
            </a:pPr>
            <a:r>
              <a:rPr lang="en-US" sz="2800" b="1" dirty="0">
                <a:solidFill>
                  <a:srgbClr val="67E8F9"/>
                </a:solidFill>
                <a:latin typeface="Arial" pitchFamily="34" charset="0"/>
                <a:ea typeface="Arial" pitchFamily="34" charset="-122"/>
                <a:cs typeface="Arial" pitchFamily="34" charset="-120"/>
              </a:rPr>
              <a:t>99.8%</a:t>
            </a:r>
            <a:endParaRPr lang="en-US" sz="2800" dirty="0"/>
          </a:p>
        </p:txBody>
      </p:sp>
      <p:sp>
        <p:nvSpPr>
          <p:cNvPr id="17" name="Text 15"/>
          <p:cNvSpPr/>
          <p:nvPr/>
        </p:nvSpPr>
        <p:spPr>
          <a:xfrm>
            <a:off x="8366760" y="3749040"/>
            <a:ext cx="237744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Audit Accuracy</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24 / 31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25 — METHODOLOGY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 Practical Approach to Enterprise AI</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Our proven 4-stage implementation framework ensuring zero downtime and smooth user adoption.</a:t>
            </a:r>
            <a:endParaRPr lang="en-US" sz="1300" dirty="0"/>
          </a:p>
        </p:txBody>
      </p:sp>
      <p:sp>
        <p:nvSpPr>
          <p:cNvPr id="6" name="Shape 4"/>
          <p:cNvSpPr/>
          <p:nvPr/>
        </p:nvSpPr>
        <p:spPr>
          <a:xfrm>
            <a:off x="548640" y="2926080"/>
            <a:ext cx="2468880" cy="3108960"/>
          </a:xfrm>
          <a:prstGeom prst="rect">
            <a:avLst/>
          </a:prstGeom>
          <a:solidFill>
            <a:srgbClr val="0D1426"/>
          </a:solidFill>
          <a:ln w="12700">
            <a:solidFill>
              <a:srgbClr val="8B5CF6"/>
            </a:solidFill>
            <a:prstDash val="solid"/>
          </a:ln>
        </p:spPr>
      </p:sp>
      <p:sp>
        <p:nvSpPr>
          <p:cNvPr id="7" name="Text 5"/>
          <p:cNvSpPr/>
          <p:nvPr/>
        </p:nvSpPr>
        <p:spPr>
          <a:xfrm>
            <a:off x="73152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1</a:t>
            </a:r>
            <a:endParaRPr lang="en-US" sz="1000" dirty="0"/>
          </a:p>
        </p:txBody>
      </p:sp>
      <p:sp>
        <p:nvSpPr>
          <p:cNvPr id="8" name="Text 6"/>
          <p:cNvSpPr/>
          <p:nvPr/>
        </p:nvSpPr>
        <p:spPr>
          <a:xfrm>
            <a:off x="73152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Assessment</a:t>
            </a:r>
            <a:endParaRPr lang="en-US" sz="1500" dirty="0"/>
          </a:p>
        </p:txBody>
      </p:sp>
      <p:sp>
        <p:nvSpPr>
          <p:cNvPr id="9" name="Text 7"/>
          <p:cNvSpPr/>
          <p:nvPr/>
        </p:nvSpPr>
        <p:spPr>
          <a:xfrm>
            <a:off x="73152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Mapping ERP schemas, APIs, and security boundaries.</a:t>
            </a:r>
            <a:endParaRPr lang="en-US" sz="1100" dirty="0"/>
          </a:p>
        </p:txBody>
      </p:sp>
      <p:sp>
        <p:nvSpPr>
          <p:cNvPr id="10" name="Shape 8"/>
          <p:cNvSpPr/>
          <p:nvPr/>
        </p:nvSpPr>
        <p:spPr>
          <a:xfrm>
            <a:off x="3246120" y="2926080"/>
            <a:ext cx="2468880" cy="3108960"/>
          </a:xfrm>
          <a:prstGeom prst="rect">
            <a:avLst/>
          </a:prstGeom>
          <a:solidFill>
            <a:srgbClr val="0D1426"/>
          </a:solidFill>
          <a:ln w="12700">
            <a:solidFill>
              <a:srgbClr val="8B5CF6"/>
            </a:solidFill>
            <a:prstDash val="solid"/>
          </a:ln>
        </p:spPr>
      </p:sp>
      <p:sp>
        <p:nvSpPr>
          <p:cNvPr id="11" name="Text 9"/>
          <p:cNvSpPr/>
          <p:nvPr/>
        </p:nvSpPr>
        <p:spPr>
          <a:xfrm>
            <a:off x="342900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2</a:t>
            </a:r>
            <a:endParaRPr lang="en-US" sz="1000" dirty="0"/>
          </a:p>
        </p:txBody>
      </p:sp>
      <p:sp>
        <p:nvSpPr>
          <p:cNvPr id="12" name="Text 10"/>
          <p:cNvSpPr/>
          <p:nvPr/>
        </p:nvSpPr>
        <p:spPr>
          <a:xfrm>
            <a:off x="342900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Vector Graph</a:t>
            </a:r>
            <a:endParaRPr lang="en-US" sz="1500" dirty="0"/>
          </a:p>
        </p:txBody>
      </p:sp>
      <p:sp>
        <p:nvSpPr>
          <p:cNvPr id="13" name="Text 11"/>
          <p:cNvSpPr/>
          <p:nvPr/>
        </p:nvSpPr>
        <p:spPr>
          <a:xfrm>
            <a:off x="342900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Ingesting data into hybrid semantic vector memory.</a:t>
            </a:r>
            <a:endParaRPr lang="en-US" sz="1100" dirty="0"/>
          </a:p>
        </p:txBody>
      </p:sp>
      <p:sp>
        <p:nvSpPr>
          <p:cNvPr id="14" name="Shape 12"/>
          <p:cNvSpPr/>
          <p:nvPr/>
        </p:nvSpPr>
        <p:spPr>
          <a:xfrm>
            <a:off x="5943600" y="2926080"/>
            <a:ext cx="2468880" cy="3108960"/>
          </a:xfrm>
          <a:prstGeom prst="rect">
            <a:avLst/>
          </a:prstGeom>
          <a:solidFill>
            <a:srgbClr val="0D1426"/>
          </a:solidFill>
          <a:ln w="12700">
            <a:solidFill>
              <a:srgbClr val="8B5CF6"/>
            </a:solidFill>
            <a:prstDash val="solid"/>
          </a:ln>
        </p:spPr>
      </p:sp>
      <p:sp>
        <p:nvSpPr>
          <p:cNvPr id="15" name="Text 13"/>
          <p:cNvSpPr/>
          <p:nvPr/>
        </p:nvSpPr>
        <p:spPr>
          <a:xfrm>
            <a:off x="612648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3</a:t>
            </a:r>
            <a:endParaRPr lang="en-US" sz="1000" dirty="0"/>
          </a:p>
        </p:txBody>
      </p:sp>
      <p:sp>
        <p:nvSpPr>
          <p:cNvPr id="16" name="Text 14"/>
          <p:cNvSpPr/>
          <p:nvPr/>
        </p:nvSpPr>
        <p:spPr>
          <a:xfrm>
            <a:off x="612648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Agent Fine-Tuning</a:t>
            </a:r>
            <a:endParaRPr lang="en-US" sz="1500" dirty="0"/>
          </a:p>
        </p:txBody>
      </p:sp>
      <p:sp>
        <p:nvSpPr>
          <p:cNvPr id="17" name="Text 15"/>
          <p:cNvSpPr/>
          <p:nvPr/>
        </p:nvSpPr>
        <p:spPr>
          <a:xfrm>
            <a:off x="612648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Configuring weights and deterministic query testing.</a:t>
            </a:r>
            <a:endParaRPr lang="en-US" sz="1100" dirty="0"/>
          </a:p>
        </p:txBody>
      </p:sp>
      <p:sp>
        <p:nvSpPr>
          <p:cNvPr id="18" name="Shape 16"/>
          <p:cNvSpPr/>
          <p:nvPr/>
        </p:nvSpPr>
        <p:spPr>
          <a:xfrm>
            <a:off x="8641080" y="2926080"/>
            <a:ext cx="2468880" cy="3108960"/>
          </a:xfrm>
          <a:prstGeom prst="rect">
            <a:avLst/>
          </a:prstGeom>
          <a:solidFill>
            <a:srgbClr val="0D1426"/>
          </a:solidFill>
          <a:ln w="12700">
            <a:solidFill>
              <a:srgbClr val="8B5CF6"/>
            </a:solidFill>
            <a:prstDash val="solid"/>
          </a:ln>
        </p:spPr>
      </p:sp>
      <p:sp>
        <p:nvSpPr>
          <p:cNvPr id="19" name="Text 17"/>
          <p:cNvSpPr/>
          <p:nvPr/>
        </p:nvSpPr>
        <p:spPr>
          <a:xfrm>
            <a:off x="8823960" y="3108960"/>
            <a:ext cx="21031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STAGE 4</a:t>
            </a:r>
            <a:endParaRPr lang="en-US" sz="1000" dirty="0"/>
          </a:p>
        </p:txBody>
      </p:sp>
      <p:sp>
        <p:nvSpPr>
          <p:cNvPr id="20" name="Text 18"/>
          <p:cNvSpPr/>
          <p:nvPr/>
        </p:nvSpPr>
        <p:spPr>
          <a:xfrm>
            <a:off x="8823960" y="3429000"/>
            <a:ext cx="210312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Go-Live</a:t>
            </a:r>
            <a:endParaRPr lang="en-US" sz="1500" dirty="0"/>
          </a:p>
        </p:txBody>
      </p:sp>
      <p:sp>
        <p:nvSpPr>
          <p:cNvPr id="21" name="Text 19"/>
          <p:cNvSpPr/>
          <p:nvPr/>
        </p:nvSpPr>
        <p:spPr>
          <a:xfrm>
            <a:off x="8823960" y="3931920"/>
            <a:ext cx="210312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Staged rollout with human oversight and SLA monitoring.</a:t>
            </a:r>
            <a:endParaRPr lang="en-US" sz="1100" dirty="0"/>
          </a:p>
        </p:txBody>
      </p:sp>
      <p:sp>
        <p:nvSpPr>
          <p:cNvPr id="22" name="Text 20"/>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25 / 31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26 — PARTNERSHIP SYNERGY</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Venus Global Technology + Kraey Globe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Combining cutting-edge AI engineering with deep functional enterprise consulting expertise.</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VENUS GLOBAL</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Core Engineering &amp; IP</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Multi-agent orchestration frameworks, custom domain fine-tuned models, and vector database architecture.</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KRAEY GLOBE</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Functional ERP Consulting</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Deep SAP/Oracle domain expertise, enterprise process re-engineering, and executive governance.</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26 / 31</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27 — UNIFIED FRAMEWORK</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One Integrated Transformation Approach</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seamless joint delivery model delivering speed, precision, and business accountability.</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STEP 1</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Joint Business Mapping</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Kraey Globe identifies bottlenecks; Venus architects target AI agents.</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STEP 2</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Co-Engineered Build</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Venus configures agent models; Kraey Globe validates business logic.</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STEP 3</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Managed Change</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Kraey Globe leads training while Venus monitors model performance.</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27 / 31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28 — SERVICES &amp; OFFERINGS</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AI-Powered ERP Service Portfolio</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Tailored service packages designed for every stage of your enterprise AI journey.</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SERVICE 01</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Readiness Sprint</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2-week evaluation of enterprise data quality and high-impact use cases.</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SERVICE 02</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Agent Deployment MVP</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6-week build delivering 2 functional multi-agent teams connected to ERP.</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SERVICE 03</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Full Transformation</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Enterprise-wide AI agent rollout across Finance &amp; Supply Chain with 24/7 SLA.</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28 / 31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29 — EXECUTIVE VISION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Creating the Intelligent Enterprise</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Empowering leaders with real-time clarity, predictive foresight, and self-executing operational velocity.</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VISION 1</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Continuous Real-Time Awareness</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Move from monthly backward-looking reports to instant continuous situational awareness across global operations.</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VISION 2</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Agile Market Responsiveness</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Adapt to supply chain disruptions and demand surges instantly with autonomous self-adjusting workflows.</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29 / 31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30 — IMMEDIATE ACTION PLAN</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 Practical Path Toward Enterprise AI</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Recommended next steps to launch your intelligent transformation journey with Venus &amp; Kraey Globe.</a:t>
            </a:r>
            <a:endParaRPr lang="en-US" sz="1300" dirty="0"/>
          </a:p>
        </p:txBody>
      </p:sp>
      <p:sp>
        <p:nvSpPr>
          <p:cNvPr id="6" name="Shape 4"/>
          <p:cNvSpPr/>
          <p:nvPr/>
        </p:nvSpPr>
        <p:spPr>
          <a:xfrm>
            <a:off x="548640" y="2926080"/>
            <a:ext cx="3291840" cy="3108960"/>
          </a:xfrm>
          <a:prstGeom prst="rect">
            <a:avLst/>
          </a:prstGeom>
          <a:solidFill>
            <a:srgbClr val="0D1426"/>
          </a:solidFill>
          <a:ln w="12700">
            <a:solidFill>
              <a:srgbClr val="8B5CF6"/>
            </a:solidFill>
            <a:prstDash val="solid"/>
          </a:ln>
        </p:spPr>
      </p:sp>
      <p:sp>
        <p:nvSpPr>
          <p:cNvPr id="7" name="Text 5"/>
          <p:cNvSpPr/>
          <p:nvPr/>
        </p:nvSpPr>
        <p:spPr>
          <a:xfrm>
            <a:off x="73152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WEEK 1</a:t>
            </a:r>
            <a:endParaRPr lang="en-US" sz="1000" dirty="0"/>
          </a:p>
        </p:txBody>
      </p:sp>
      <p:sp>
        <p:nvSpPr>
          <p:cNvPr id="8" name="Text 6"/>
          <p:cNvSpPr/>
          <p:nvPr/>
        </p:nvSpPr>
        <p:spPr>
          <a:xfrm>
            <a:off x="73152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Alignment Workshop</a:t>
            </a:r>
            <a:endParaRPr lang="en-US" sz="1500" dirty="0"/>
          </a:p>
        </p:txBody>
      </p:sp>
      <p:sp>
        <p:nvSpPr>
          <p:cNvPr id="9" name="Text 7"/>
          <p:cNvSpPr/>
          <p:nvPr/>
        </p:nvSpPr>
        <p:spPr>
          <a:xfrm>
            <a:off x="73152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Strategic session with Venus AI architects and Kraey Globe leads.</a:t>
            </a:r>
            <a:endParaRPr lang="en-US" sz="1100" dirty="0"/>
          </a:p>
        </p:txBody>
      </p:sp>
      <p:sp>
        <p:nvSpPr>
          <p:cNvPr id="10" name="Shape 8"/>
          <p:cNvSpPr/>
          <p:nvPr/>
        </p:nvSpPr>
        <p:spPr>
          <a:xfrm>
            <a:off x="4069080" y="2926080"/>
            <a:ext cx="3291840" cy="3108960"/>
          </a:xfrm>
          <a:prstGeom prst="rect">
            <a:avLst/>
          </a:prstGeom>
          <a:solidFill>
            <a:srgbClr val="0D1426"/>
          </a:solidFill>
          <a:ln w="12700">
            <a:solidFill>
              <a:srgbClr val="8B5CF6"/>
            </a:solidFill>
            <a:prstDash val="solid"/>
          </a:ln>
        </p:spPr>
      </p:sp>
      <p:sp>
        <p:nvSpPr>
          <p:cNvPr id="11" name="Text 9"/>
          <p:cNvSpPr/>
          <p:nvPr/>
        </p:nvSpPr>
        <p:spPr>
          <a:xfrm>
            <a:off x="425196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WEEKS 2-3</a:t>
            </a:r>
            <a:endParaRPr lang="en-US" sz="1000" dirty="0"/>
          </a:p>
        </p:txBody>
      </p:sp>
      <p:sp>
        <p:nvSpPr>
          <p:cNvPr id="12" name="Text 10"/>
          <p:cNvSpPr/>
          <p:nvPr/>
        </p:nvSpPr>
        <p:spPr>
          <a:xfrm>
            <a:off x="425196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Data &amp; Schema Audit</a:t>
            </a:r>
            <a:endParaRPr lang="en-US" sz="1500" dirty="0"/>
          </a:p>
        </p:txBody>
      </p:sp>
      <p:sp>
        <p:nvSpPr>
          <p:cNvPr id="13" name="Text 11"/>
          <p:cNvSpPr/>
          <p:nvPr/>
        </p:nvSpPr>
        <p:spPr>
          <a:xfrm>
            <a:off x="425196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Technical validation of ERP tables, REST endpoints, and permissions.</a:t>
            </a:r>
            <a:endParaRPr lang="en-US" sz="1100" dirty="0"/>
          </a:p>
        </p:txBody>
      </p:sp>
      <p:sp>
        <p:nvSpPr>
          <p:cNvPr id="14" name="Shape 12"/>
          <p:cNvSpPr/>
          <p:nvPr/>
        </p:nvSpPr>
        <p:spPr>
          <a:xfrm>
            <a:off x="7589520" y="2926080"/>
            <a:ext cx="3291840" cy="3108960"/>
          </a:xfrm>
          <a:prstGeom prst="rect">
            <a:avLst/>
          </a:prstGeom>
          <a:solidFill>
            <a:srgbClr val="0D1426"/>
          </a:solidFill>
          <a:ln w="12700">
            <a:solidFill>
              <a:srgbClr val="8B5CF6"/>
            </a:solidFill>
            <a:prstDash val="solid"/>
          </a:ln>
        </p:spPr>
      </p:sp>
      <p:sp>
        <p:nvSpPr>
          <p:cNvPr id="15" name="Text 13"/>
          <p:cNvSpPr/>
          <p:nvPr/>
        </p:nvSpPr>
        <p:spPr>
          <a:xfrm>
            <a:off x="7772400" y="3108960"/>
            <a:ext cx="292608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WEEK 4+</a:t>
            </a:r>
            <a:endParaRPr lang="en-US" sz="1000" dirty="0"/>
          </a:p>
        </p:txBody>
      </p:sp>
      <p:sp>
        <p:nvSpPr>
          <p:cNvPr id="16" name="Text 14"/>
          <p:cNvSpPr/>
          <p:nvPr/>
        </p:nvSpPr>
        <p:spPr>
          <a:xfrm>
            <a:off x="7772400" y="3429000"/>
            <a:ext cx="292608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MVP Kickoff</a:t>
            </a:r>
            <a:endParaRPr lang="en-US" sz="1500" dirty="0"/>
          </a:p>
        </p:txBody>
      </p:sp>
      <p:sp>
        <p:nvSpPr>
          <p:cNvPr id="17" name="Text 15"/>
          <p:cNvSpPr/>
          <p:nvPr/>
        </p:nvSpPr>
        <p:spPr>
          <a:xfrm>
            <a:off x="7772400" y="3931920"/>
            <a:ext cx="292608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Initiate Phase 1 build for selected high-ROI enterprise workflow module.</a:t>
            </a:r>
            <a:endParaRPr lang="en-US" sz="1100" dirty="0"/>
          </a:p>
        </p:txBody>
      </p:sp>
      <p:sp>
        <p:nvSpPr>
          <p:cNvPr id="18" name="Text 16"/>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30 / 31</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40711"/>
        </a:solidFill>
      </p:bgPr>
    </p:bg>
    <p:spTree>
      <p:nvGrpSpPr>
        <p:cNvPr id="1" name=""/>
        <p:cNvGrpSpPr/>
        <p:nvPr/>
      </p:nvGrpSpPr>
      <p:grpSpPr>
        <a:xfrm>
          <a:off x="0" y="0"/>
          <a:ext cx="0" cy="0"/>
          <a:chOff x="0" y="0"/>
          <a:chExt cx="0" cy="0"/>
        </a:xfrm>
      </p:grpSpPr>
      <p:sp>
        <p:nvSpPr>
          <p:cNvPr id="2" name="Text 0"/>
          <p:cNvSpPr/>
          <p:nvPr/>
        </p:nvSpPr>
        <p:spPr>
          <a:xfrm>
            <a:off x="548640" y="274320"/>
            <a:ext cx="914400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VENUS GLOBAL TECHNOLOGY | EXECUTIVE PITCH DECK</a:t>
            </a:r>
            <a:endParaRPr lang="en-US" sz="1000" dirty="0"/>
          </a:p>
        </p:txBody>
      </p:sp>
      <p:sp>
        <p:nvSpPr>
          <p:cNvPr id="3" name="Text 1"/>
          <p:cNvSpPr/>
          <p:nvPr/>
        </p:nvSpPr>
        <p:spPr>
          <a:xfrm>
            <a:off x="548640" y="640080"/>
            <a:ext cx="7315200" cy="320040"/>
          </a:xfrm>
          <a:prstGeom prst="rect">
            <a:avLst/>
          </a:prstGeom>
          <a:noFill/>
          <a:ln/>
        </p:spPr>
        <p:txBody>
          <a:bodyPr wrap="square" rtlCol="0" anchor="ctr"/>
          <a:lstStyle/>
          <a:p>
            <a:pPr indent="0" marL="0">
              <a:buNone/>
            </a:pPr>
            <a:r>
              <a:rPr lang="en-US" sz="1100" b="1" dirty="0">
                <a:solidFill>
                  <a:srgbClr val="67E8F9"/>
                </a:solidFill>
                <a:latin typeface="Arial" pitchFamily="34" charset="0"/>
                <a:ea typeface="Arial" pitchFamily="34" charset="-122"/>
                <a:cs typeface="Arial" pitchFamily="34" charset="-120"/>
              </a:rPr>
              <a:t>31 — CONCLUSION &amp; CLOSING</a:t>
            </a:r>
            <a:endParaRPr lang="en-US" sz="1100" dirty="0"/>
          </a:p>
        </p:txBody>
      </p:sp>
      <p:sp>
        <p:nvSpPr>
          <p:cNvPr id="4" name="Text 2"/>
          <p:cNvSpPr/>
          <p:nvPr/>
        </p:nvSpPr>
        <p:spPr>
          <a:xfrm>
            <a:off x="548640" y="1005840"/>
            <a:ext cx="10515600" cy="10058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Future of Enterprise is Intelligent</a:t>
            </a:r>
            <a:endParaRPr lang="en-US" sz="2400" dirty="0"/>
          </a:p>
        </p:txBody>
      </p:sp>
      <p:sp>
        <p:nvSpPr>
          <p:cNvPr id="5" name="Text 3"/>
          <p:cNvSpPr/>
          <p:nvPr/>
        </p:nvSpPr>
        <p:spPr>
          <a:xfrm>
            <a:off x="548640" y="2103120"/>
            <a:ext cx="10515600" cy="64008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Partner with Venus Global Technology &amp; Kraey Globe to transform passive software into active, autonomous enterprise competitive advantage.</a:t>
            </a:r>
            <a:endParaRPr lang="en-US" sz="1300" dirty="0"/>
          </a:p>
        </p:txBody>
      </p:sp>
      <p:sp>
        <p:nvSpPr>
          <p:cNvPr id="6" name="Shape 4"/>
          <p:cNvSpPr/>
          <p:nvPr/>
        </p:nvSpPr>
        <p:spPr>
          <a:xfrm>
            <a:off x="548640" y="2926080"/>
            <a:ext cx="5029200" cy="3108960"/>
          </a:xfrm>
          <a:prstGeom prst="rect">
            <a:avLst/>
          </a:prstGeom>
          <a:solidFill>
            <a:srgbClr val="0D1426"/>
          </a:solidFill>
          <a:ln w="12700">
            <a:solidFill>
              <a:srgbClr val="8B5CF6"/>
            </a:solidFill>
            <a:prstDash val="solid"/>
          </a:ln>
        </p:spPr>
      </p:sp>
      <p:sp>
        <p:nvSpPr>
          <p:cNvPr id="7" name="Text 5"/>
          <p:cNvSpPr/>
          <p:nvPr/>
        </p:nvSpPr>
        <p:spPr>
          <a:xfrm>
            <a:off x="7315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CONTACT VENUS</a:t>
            </a:r>
            <a:endParaRPr lang="en-US" sz="1000" dirty="0"/>
          </a:p>
        </p:txBody>
      </p:sp>
      <p:sp>
        <p:nvSpPr>
          <p:cNvPr id="8" name="Text 6"/>
          <p:cNvSpPr/>
          <p:nvPr/>
        </p:nvSpPr>
        <p:spPr>
          <a:xfrm>
            <a:off x="7315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Venus Global Technology</a:t>
            </a:r>
            <a:endParaRPr lang="en-US" sz="1500" dirty="0"/>
          </a:p>
        </p:txBody>
      </p:sp>
      <p:sp>
        <p:nvSpPr>
          <p:cNvPr id="9" name="Text 7"/>
          <p:cNvSpPr/>
          <p:nvPr/>
        </p:nvSpPr>
        <p:spPr>
          <a:xfrm>
            <a:off x="7315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Enterprise AI Engineering &amp; Multi-Agent Innovation</a:t>
            </a:r>
            <a:endParaRPr lang="en-US" sz="1100" dirty="0"/>
          </a:p>
          <a:p>
            <a:pPr indent="0" marL="0">
              <a:buNone/>
            </a:pPr>
            <a:r>
              <a:rPr lang="en-US" sz="1100" dirty="0">
                <a:solidFill>
                  <a:srgbClr val="94A3B8"/>
                </a:solidFill>
                <a:latin typeface="Arial" pitchFamily="34" charset="0"/>
                <a:ea typeface="Arial" pitchFamily="34" charset="-122"/>
                <a:cs typeface="Arial" pitchFamily="34" charset="-120"/>
              </a:rPr>
              <a:t>Email: ai-solutions@venusglobal.tech</a:t>
            </a:r>
            <a:endParaRPr lang="en-US" sz="1100" dirty="0"/>
          </a:p>
        </p:txBody>
      </p:sp>
      <p:sp>
        <p:nvSpPr>
          <p:cNvPr id="10" name="Shape 8"/>
          <p:cNvSpPr/>
          <p:nvPr/>
        </p:nvSpPr>
        <p:spPr>
          <a:xfrm>
            <a:off x="5806440" y="2926080"/>
            <a:ext cx="5029200" cy="3108960"/>
          </a:xfrm>
          <a:prstGeom prst="rect">
            <a:avLst/>
          </a:prstGeom>
          <a:solidFill>
            <a:srgbClr val="0D1426"/>
          </a:solidFill>
          <a:ln w="12700">
            <a:solidFill>
              <a:srgbClr val="8B5CF6"/>
            </a:solidFill>
            <a:prstDash val="solid"/>
          </a:ln>
        </p:spPr>
      </p:sp>
      <p:sp>
        <p:nvSpPr>
          <p:cNvPr id="11" name="Text 9"/>
          <p:cNvSpPr/>
          <p:nvPr/>
        </p:nvSpPr>
        <p:spPr>
          <a:xfrm>
            <a:off x="5989320" y="3108960"/>
            <a:ext cx="466344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CONTACT KRAEY</a:t>
            </a:r>
            <a:endParaRPr lang="en-US" sz="1000" dirty="0"/>
          </a:p>
        </p:txBody>
      </p:sp>
      <p:sp>
        <p:nvSpPr>
          <p:cNvPr id="12" name="Text 10"/>
          <p:cNvSpPr/>
          <p:nvPr/>
        </p:nvSpPr>
        <p:spPr>
          <a:xfrm>
            <a:off x="5989320" y="3429000"/>
            <a:ext cx="466344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Kraey Globe</a:t>
            </a:r>
            <a:endParaRPr lang="en-US" sz="1500" dirty="0"/>
          </a:p>
        </p:txBody>
      </p:sp>
      <p:sp>
        <p:nvSpPr>
          <p:cNvPr id="13" name="Text 11"/>
          <p:cNvSpPr/>
          <p:nvPr/>
        </p:nvSpPr>
        <p:spPr>
          <a:xfrm>
            <a:off x="5989320" y="3931920"/>
            <a:ext cx="4663440" cy="18288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Enterprise ERP &amp; Functional Transformation Leadership</a:t>
            </a:r>
            <a:endParaRPr lang="en-US" sz="1100" dirty="0"/>
          </a:p>
          <a:p>
            <a:pPr indent="0" marL="0">
              <a:buNone/>
            </a:pPr>
            <a:r>
              <a:rPr lang="en-US" sz="1100" dirty="0">
                <a:solidFill>
                  <a:srgbClr val="94A3B8"/>
                </a:solidFill>
                <a:latin typeface="Arial" pitchFamily="34" charset="0"/>
                <a:ea typeface="Arial" pitchFamily="34" charset="-122"/>
                <a:cs typeface="Arial" pitchFamily="34" charset="-120"/>
              </a:rPr>
              <a:t>Email: consulting@kraeyglobe.com</a:t>
            </a:r>
            <a:endParaRPr lang="en-US" sz="1100" dirty="0"/>
          </a:p>
        </p:txBody>
      </p:sp>
      <p:sp>
        <p:nvSpPr>
          <p:cNvPr id="14" name="Text 12"/>
          <p:cNvSpPr/>
          <p:nvPr/>
        </p:nvSpPr>
        <p:spPr>
          <a:xfrm>
            <a:off x="9601200" y="6400800"/>
            <a:ext cx="2011680" cy="274320"/>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SLIDE 31 / 31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2026-09-07T21:40:03Z</dcterms:created>
  <dcterms:modified xsi:type="dcterms:W3CDTF">2026-09-07T21:40:03Z</dcterms:modified>
</cp:coreProperties>
</file>